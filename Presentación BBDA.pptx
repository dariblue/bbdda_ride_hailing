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F4F6"/>
    <a:srgbClr val="4715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59" autoAdjust="0"/>
    <p:restoredTop sz="94660"/>
  </p:normalViewPr>
  <p:slideViewPr>
    <p:cSldViewPr snapToGrid="0">
      <p:cViewPr>
        <p:scale>
          <a:sx n="50" d="100"/>
          <a:sy n="50" d="100"/>
        </p:scale>
        <p:origin x="2112" y="5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78545-65AF-4D5D-977E-B19CF8F9AC26}" type="datetimeFigureOut">
              <a:rPr lang="es-ES" smtClean="0"/>
              <a:t>26/04/2026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DF3932-7B47-49BF-952C-1CD807DE80A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9693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DF3932-7B47-49BF-952C-1CD807DE80A5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93410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258CA-1D28-CF8D-E2F2-630280731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BE7CF7-A8D0-D294-4B91-B78F2889D7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510CFA-7CEE-AD54-E4FD-A9F072F19D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140EE6-B5B6-5CE2-C7F5-FE8A57C26C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DF3932-7B47-49BF-952C-1CD807DE80A5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350585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419A5-D0DE-457E-CDB1-E3B7E66F9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737936-3294-90FE-4BF7-490578E8A2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B9D4C0-801F-7B22-D94A-328B80510C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4E1E85-F701-6788-3E5A-0DE4DE3538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DF3932-7B47-49BF-952C-1CD807DE80A5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17932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7EDF2-B10F-A6A6-F0B9-9954A1AC8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018F01-E1A4-A743-E1A9-D083B1BE63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2980CC-7902-A244-CF18-261D400B85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FA9C0F-32CF-3265-2FAE-DA4A0A09B5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DF3932-7B47-49BF-952C-1CD807DE80A5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2730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ADCBB-736E-EBC2-7986-28780E728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074B48-A0E7-CB0D-1FBA-B1D3DC1E5A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37FC72-69A5-CFC7-96A2-22716A8344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E45918-9E5F-B4B3-7997-3C71A904DD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DF3932-7B47-49BF-952C-1CD807DE80A5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76143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66D0C-C9F2-A21E-6868-9A5EC3572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0CD158-FA64-3EAD-321C-CEFDA0159F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EA46CF-8F0E-F99F-A978-A84802F487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3AD679-B7D3-8003-6097-B40823B360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DF3932-7B47-49BF-952C-1CD807DE80A5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18579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21564-1A3A-211B-6ABC-0175E5455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B7AC83-7A08-656A-3E81-6B22738C47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4580EE-9391-C975-F5A3-6F3C1DCBA2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442C9-8F41-EC67-4FCA-E7B7B3C69F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DF3932-7B47-49BF-952C-1CD807DE80A5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1532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A42A3-B0A4-0EC0-E769-709778F09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D3F0A1-6EDD-4CFE-7869-1534EF9B3B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2B49D1-60AF-6D59-A2E7-AB3006BFD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5B0E39-09AC-E382-A063-5B7C93CE2E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DF3932-7B47-49BF-952C-1CD807DE80A5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34081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655C5-63B3-93B8-B2FE-6B31654B4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592702-1000-C7D3-A23B-538C3F039D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AE3619-CC0B-0BFA-E5F5-BAEE9F16EC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802E05-9635-382E-ACEF-70D466A68F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DF3932-7B47-49BF-952C-1CD807DE80A5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236033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9F2FB-7F21-2836-DD56-4CDBAB406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D35375-0C23-1131-8EB4-E883FD6121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F249EF-E555-7007-1B57-19CC35FC0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D9C481-4035-206B-3FCB-581EFB75E2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DF3932-7B47-49BF-952C-1CD807DE80A5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46319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B3A56-5D83-6FA7-942A-8BC5399F1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D401C3-D58A-1D8C-BC1F-BD286F6565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6A571B-F806-51F3-EB71-CE27CA0EBF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5D239-D6B4-9D8B-958D-03198316D1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DF3932-7B47-49BF-952C-1CD807DE80A5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76044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56CEB-025B-6BE0-0CDC-332360DEC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6E2F6-94AC-72BA-C5E6-8B8EFE184A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803AF-49FC-5A7D-EE41-23F3A2C0A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0D719-5C23-4D17-888A-AAF371F77EE0}" type="datetimeFigureOut">
              <a:rPr lang="es-ES" smtClean="0"/>
              <a:t>25/04/2026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9A85C-EF32-473E-B030-AC1C974CF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25971-606B-0709-5F96-2287F2229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146E8-48FF-48B2-A580-726ACF24638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51553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45E27-5B74-DFAF-B0D1-8C59442CB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2C988-66F4-621C-9CBC-88B144BE6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9FE1D-DEB8-DB59-7ED7-6A505DC43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0D719-5C23-4D17-888A-AAF371F77EE0}" type="datetimeFigureOut">
              <a:rPr lang="es-ES" smtClean="0"/>
              <a:t>25/04/2026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73869-3DFC-C914-3B7F-780AC05F0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DD16F-626D-C1BF-E775-195224A5D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146E8-48FF-48B2-A580-726ACF24638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426478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0BA69-343A-78BC-DA69-D78E26AB1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47B44-5A72-53C4-17A3-603C1E811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026D5-D9C2-6D58-B601-88E271EFD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0D719-5C23-4D17-888A-AAF371F77EE0}" type="datetimeFigureOut">
              <a:rPr lang="es-ES" smtClean="0"/>
              <a:t>25/04/2026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0F0A9-B7E0-19FC-1A1B-B39B9FB41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45523-4685-F89F-DEA0-07AA1FCFA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146E8-48FF-48B2-A580-726ACF24638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7830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E87FD-7017-D007-2EC1-D0D73FF07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FB23C-977E-907E-78DE-2BECA611B4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8184CC-9EA0-2B0E-A658-BD50DCBD0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CD6AF6-10F0-B868-0C9A-DFA90E28E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0D719-5C23-4D17-888A-AAF371F77EE0}" type="datetimeFigureOut">
              <a:rPr lang="es-ES" smtClean="0"/>
              <a:t>25/04/2026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B68C86-CABA-201A-296F-6A9C1D84C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AB27E-C582-73BC-18C0-3904D28FB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146E8-48FF-48B2-A580-726ACF24638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843339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41F59-E791-F0F1-C91D-6D6DCC663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2EE29-4AE0-416F-8F0B-61EEA5EB0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233136-DD58-35AB-413E-8146A8123D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EB58AA-243C-C9D0-17C7-CBC011454C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54F5F2-904F-C5B8-FD47-0FAD267DBD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1C3F78-638F-B8B0-E9F7-2E547BFEB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0D719-5C23-4D17-888A-AAF371F77EE0}" type="datetimeFigureOut">
              <a:rPr lang="es-ES" smtClean="0"/>
              <a:t>25/04/2026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EB0438-C9BE-231E-4534-1B5CAA3AD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533EBD-19CF-9A37-247B-EB1B172EA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146E8-48FF-48B2-A580-726ACF24638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75859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FC77C-06E4-6368-23CB-CFE68F48F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7CB942-C088-25C3-4952-19BAE058D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0D719-5C23-4D17-888A-AAF371F77EE0}" type="datetimeFigureOut">
              <a:rPr lang="es-ES" smtClean="0"/>
              <a:t>25/04/2026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5C7E86-D906-B5B0-CF8D-F5C88BA6B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769F9F-412B-CF88-29FF-A0AD4B750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146E8-48FF-48B2-A580-726ACF24638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74092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1ED8EE-BC58-47E4-AECF-D86EA37F3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0D719-5C23-4D17-888A-AAF371F77EE0}" type="datetimeFigureOut">
              <a:rPr lang="es-ES" smtClean="0"/>
              <a:t>25/04/2026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FBAC50-B4B9-33BE-D2A5-2CA9DAC43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97D82-4048-1965-888F-EEB2B1807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146E8-48FF-48B2-A580-726ACF24638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90669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E9E3A-CD2E-F25E-5FF2-2446ABA1F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1B172-8937-A45C-0AA2-738F00F1E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A5612C-CB13-1526-81E5-7ED2659AA1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331093-B390-F8E6-9640-84626D3F1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0D719-5C23-4D17-888A-AAF371F77EE0}" type="datetimeFigureOut">
              <a:rPr lang="es-ES" smtClean="0"/>
              <a:t>25/04/2026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BAF22-0F3F-40DC-310C-BF6272436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B883B-C393-3E15-C4BF-EEC4D67DC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146E8-48FF-48B2-A580-726ACF24638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06000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9D5F4-9352-4032-3129-3C53F9494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C853DE-C1F2-363F-56F5-9F2E9394D4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9A2C6F-5F26-9EBB-AB31-956B0AE1E1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DBD891-D1CB-F537-DC0F-BFE98BC45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0D719-5C23-4D17-888A-AAF371F77EE0}" type="datetimeFigureOut">
              <a:rPr lang="es-ES" smtClean="0"/>
              <a:t>25/04/2026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CE9D72-B382-9B07-38C7-1721D58B9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DF209A-2648-29CF-BE46-9154F7F51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146E8-48FF-48B2-A580-726ACF24638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25791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50023-77D9-47EF-D000-8EF21161C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A74669-EB21-6B4D-FE00-4F8BEB3611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7569C-AC98-D26A-FB22-4B6AC8D1A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0D719-5C23-4D17-888A-AAF371F77EE0}" type="datetimeFigureOut">
              <a:rPr lang="es-ES" smtClean="0"/>
              <a:t>25/04/2026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07ABF-7125-69F0-8CBD-5F8602B08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92E9C-D7C3-6562-54A3-EACDB966B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146E8-48FF-48B2-A580-726ACF24638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36170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976617-ECC8-5D6D-49A2-515B860AF8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3B4D2F-92AA-E872-B7C1-1177CF9664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6ECCD-0D3D-905D-E1E3-930E001D4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0D719-5C23-4D17-888A-AAF371F77EE0}" type="datetimeFigureOut">
              <a:rPr lang="es-ES" smtClean="0"/>
              <a:t>25/04/2026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E16CE-146E-F67B-6D3E-E809B92C1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A7AC3-5C96-A454-B27D-A087B84FE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146E8-48FF-48B2-A580-726ACF24638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753396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E3CEB2-7004-564B-CFCF-7A50EDCA0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6359EF-1998-54BA-64D8-CB6D6B8E5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992CA-2BCF-37F5-53EC-138F0EFF9D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40D719-5C23-4D17-888A-AAF371F77EE0}" type="datetimeFigureOut">
              <a:rPr lang="es-ES" smtClean="0"/>
              <a:t>25/04/2026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AD7AE-9C06-DB7E-7B1C-6DAAAEF1BD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25295-58F2-AC9A-86ED-8006B5D4DA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8146E8-48FF-48B2-A580-726ACF24638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8989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2051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92DA18D-881C-69C8-6C85-A45B72051D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5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194" b="19556"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F055268-8CAB-8292-42FA-95DB5B67D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69795"/>
            <a:ext cx="9144000" cy="1384607"/>
          </a:xfrm>
          <a:noFill/>
        </p:spPr>
        <p:txBody>
          <a:bodyPr>
            <a:normAutofit/>
          </a:bodyPr>
          <a:lstStyle/>
          <a:p>
            <a:r>
              <a:rPr lang="es-ES" dirty="0">
                <a:latin typeface="Cooper Black" panose="0208090404030B020404" pitchFamily="18" charset="0"/>
              </a:rPr>
              <a:t>RIDE ‑ HAILING</a:t>
            </a:r>
            <a:endParaRPr lang="es-ES" dirty="0">
              <a:solidFill>
                <a:srgbClr val="FFFFFF"/>
              </a:solidFill>
              <a:latin typeface="Cooper Black" panose="0208090404030B020404" pitchFamily="18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9B60898-E987-DCE0-1382-7FF8F11F35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54404"/>
            <a:ext cx="9144000" cy="477221"/>
          </a:xfrm>
          <a:noFill/>
        </p:spPr>
        <p:txBody>
          <a:bodyPr>
            <a:normAutofit/>
          </a:bodyPr>
          <a:lstStyle/>
          <a:p>
            <a:r>
              <a:rPr lang="es-ES" b="1" dirty="0">
                <a:solidFill>
                  <a:srgbClr val="FFFFFF"/>
                </a:solidFill>
                <a:latin typeface="Consolas" panose="020B0609020204030204" pitchFamily="49" charset="0"/>
              </a:rPr>
              <a:t>Defensa de Proyecto - Bases de Datos Avanzadas</a:t>
            </a:r>
          </a:p>
        </p:txBody>
      </p:sp>
      <p:sp>
        <p:nvSpPr>
          <p:cNvPr id="7" name="Subtitle 4">
            <a:extLst>
              <a:ext uri="{FF2B5EF4-FFF2-40B4-BE49-F238E27FC236}">
                <a16:creationId xmlns:a16="http://schemas.microsoft.com/office/drawing/2014/main" id="{11015ED0-F0FD-8693-FEB1-17399B3F22E0}"/>
              </a:ext>
            </a:extLst>
          </p:cNvPr>
          <p:cNvSpPr txBox="1">
            <a:spLocks/>
          </p:cNvSpPr>
          <p:nvPr/>
        </p:nvSpPr>
        <p:spPr>
          <a:xfrm>
            <a:off x="9572263" y="5660019"/>
            <a:ext cx="2874379" cy="1128533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endParaRPr lang="es-ES" sz="500" b="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s-ES" sz="1600" b="1" dirty="0">
                <a:solidFill>
                  <a:srgbClr val="FFFFFF"/>
                </a:solidFill>
                <a:latin typeface="Consolas" panose="020B0609020204030204" pitchFamily="49" charset="0"/>
              </a:rPr>
              <a:t>NIA ANDRADE</a:t>
            </a:r>
          </a:p>
          <a:p>
            <a:pPr>
              <a:spcBef>
                <a:spcPts val="600"/>
              </a:spcBef>
            </a:pPr>
            <a:r>
              <a:rPr lang="es-ES" sz="1600" b="1" dirty="0">
                <a:solidFill>
                  <a:srgbClr val="FFFFFF"/>
                </a:solidFill>
                <a:latin typeface="Consolas" panose="020B0609020204030204" pitchFamily="49" charset="0"/>
              </a:rPr>
              <a:t>VITTORIO PERILLO </a:t>
            </a:r>
          </a:p>
          <a:p>
            <a:pPr>
              <a:spcBef>
                <a:spcPts val="600"/>
              </a:spcBef>
            </a:pPr>
            <a:r>
              <a:rPr lang="es-ES" sz="1600" b="1" dirty="0">
                <a:solidFill>
                  <a:srgbClr val="FFFFFF"/>
                </a:solidFill>
                <a:latin typeface="Consolas" panose="020B0609020204030204" pitchFamily="49" charset="0"/>
              </a:rPr>
              <a:t>DARÍO RODRÍGUEZ</a:t>
            </a:r>
          </a:p>
        </p:txBody>
      </p:sp>
    </p:spTree>
    <p:extLst>
      <p:ext uri="{BB962C8B-B14F-4D97-AF65-F5344CB8AC3E}">
        <p14:creationId xmlns:p14="http://schemas.microsoft.com/office/powerpoint/2010/main" val="19804791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2D330-6CE0-300C-A04B-060426903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BD66B7DA-1F08-5C5B-0048-ADD6B285327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18" t="24557" r="28410" b="62466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5284F019-2B4C-8336-C525-53FE6DF92425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u="sng" dirty="0">
                <a:solidFill>
                  <a:schemeClr val="tx2">
                    <a:lumMod val="10000"/>
                    <a:lumOff val="90000"/>
                  </a:schemeClr>
                </a:solidFill>
                <a:latin typeface="Cooper Black" panose="0208090404030B020404" pitchFamily="18" charset="0"/>
              </a:rPr>
              <a:t>Modelado de Datos y Normalización</a:t>
            </a:r>
          </a:p>
        </p:txBody>
      </p:sp>
      <p:sp>
        <p:nvSpPr>
          <p:cNvPr id="15" name="Subtitle 4">
            <a:extLst>
              <a:ext uri="{FF2B5EF4-FFF2-40B4-BE49-F238E27FC236}">
                <a16:creationId xmlns:a16="http://schemas.microsoft.com/office/drawing/2014/main" id="{2C0DAAF2-DAFC-904B-98F8-8F548871C233}"/>
              </a:ext>
            </a:extLst>
          </p:cNvPr>
          <p:cNvSpPr txBox="1">
            <a:spLocks/>
          </p:cNvSpPr>
          <p:nvPr/>
        </p:nvSpPr>
        <p:spPr>
          <a:xfrm>
            <a:off x="838200" y="1452077"/>
            <a:ext cx="8279757" cy="47722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000" dirty="0">
                <a:solidFill>
                  <a:schemeClr val="tx2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Normalización 3FN, Jerarquías ISA y Geoposicionamiento (GPS)</a:t>
            </a:r>
            <a:endParaRPr lang="es-ES" sz="2000" i="1" dirty="0">
              <a:solidFill>
                <a:schemeClr val="tx2">
                  <a:lumMod val="10000"/>
                  <a:lumOff val="90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19E05BA-AAA8-D0D7-7B1E-F420CCBC4C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56" t="-2757" r="-1236" b="-2130"/>
          <a:stretch>
            <a:fillRect/>
          </a:stretch>
        </p:blipFill>
        <p:spPr>
          <a:xfrm>
            <a:off x="690623" y="1873250"/>
            <a:ext cx="10810753" cy="4654872"/>
          </a:xfrm>
          <a:prstGeom prst="roundRect">
            <a:avLst>
              <a:gd name="adj" fmla="val 3594"/>
            </a:avLst>
          </a:prstGeom>
          <a:solidFill>
            <a:srgbClr val="E2F4F6">
              <a:alpha val="50000"/>
            </a:srgbClr>
          </a:solidFill>
        </p:spPr>
      </p:pic>
    </p:spTree>
    <p:extLst>
      <p:ext uri="{BB962C8B-B14F-4D97-AF65-F5344CB8AC3E}">
        <p14:creationId xmlns:p14="http://schemas.microsoft.com/office/powerpoint/2010/main" val="41618552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E7CA4-AF4C-E0F9-A08F-0CC629785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577C3B67-307C-78D6-880C-1F3B2D40A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1F74D59-8F9E-9BB3-3FB8-E63A38881A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84" t="30193" r="21444" b="56830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42A88D-5378-7E58-14FF-345D9B361A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12" t="-1296" r="-1143" b="-2585"/>
          <a:stretch>
            <a:fillRect/>
          </a:stretch>
        </p:blipFill>
        <p:spPr>
          <a:xfrm>
            <a:off x="3345084" y="2054530"/>
            <a:ext cx="5497974" cy="4253673"/>
          </a:xfrm>
          <a:prstGeom prst="roundRect">
            <a:avLst>
              <a:gd name="adj" fmla="val 5360"/>
            </a:avLst>
          </a:prstGeom>
          <a:solidFill>
            <a:srgbClr val="E2F4F6">
              <a:alpha val="50000"/>
            </a:srgbClr>
          </a:solidFill>
        </p:spPr>
      </p:pic>
      <p:sp>
        <p:nvSpPr>
          <p:cNvPr id="8" name="Title 11">
            <a:extLst>
              <a:ext uri="{FF2B5EF4-FFF2-40B4-BE49-F238E27FC236}">
                <a16:creationId xmlns:a16="http://schemas.microsoft.com/office/drawing/2014/main" id="{A993C2D6-E398-E231-C403-EA223BDA0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 sz="4000" u="sng" dirty="0">
                <a:solidFill>
                  <a:schemeClr val="tx2">
                    <a:lumMod val="10000"/>
                    <a:lumOff val="90000"/>
                  </a:schemeClr>
                </a:solidFill>
                <a:latin typeface="Cooper Black" panose="0208090404030B020404" pitchFamily="18" charset="0"/>
              </a:rPr>
              <a:t>Entorno Contenerizado</a:t>
            </a:r>
          </a:p>
        </p:txBody>
      </p:sp>
      <p:sp>
        <p:nvSpPr>
          <p:cNvPr id="9" name="Subtitle 4">
            <a:extLst>
              <a:ext uri="{FF2B5EF4-FFF2-40B4-BE49-F238E27FC236}">
                <a16:creationId xmlns:a16="http://schemas.microsoft.com/office/drawing/2014/main" id="{8DF7959A-CA7C-DA6B-D4D3-6B5C6B2F3427}"/>
              </a:ext>
            </a:extLst>
          </p:cNvPr>
          <p:cNvSpPr txBox="1">
            <a:spLocks/>
          </p:cNvSpPr>
          <p:nvPr/>
        </p:nvSpPr>
        <p:spPr>
          <a:xfrm>
            <a:off x="838200" y="1452077"/>
            <a:ext cx="9116028" cy="477221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000" dirty="0">
                <a:solidFill>
                  <a:schemeClr val="tx2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Ecosistema integrado de base de datos y monitoreo multiplataforma</a:t>
            </a:r>
          </a:p>
        </p:txBody>
      </p:sp>
    </p:spTree>
    <p:extLst>
      <p:ext uri="{BB962C8B-B14F-4D97-AF65-F5344CB8AC3E}">
        <p14:creationId xmlns:p14="http://schemas.microsoft.com/office/powerpoint/2010/main" val="13320783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A4D76-E22B-9D45-C886-9FDB8A79F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DA7C9CAF-9F47-F660-7639-E7B86D5D27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0DE94DD-7E0A-829A-9E68-00BF9B65FB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28" t="40665" r="21400" b="46358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1">
            <a:extLst>
              <a:ext uri="{FF2B5EF4-FFF2-40B4-BE49-F238E27FC236}">
                <a16:creationId xmlns:a16="http://schemas.microsoft.com/office/drawing/2014/main" id="{7546E21F-563D-D667-2AD5-4CFCD786A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 sz="4000" u="sng" dirty="0">
                <a:solidFill>
                  <a:schemeClr val="tx2">
                    <a:lumMod val="10000"/>
                    <a:lumOff val="90000"/>
                  </a:schemeClr>
                </a:solidFill>
                <a:latin typeface="Cooper Black" panose="0208090404030B020404" pitchFamily="18" charset="0"/>
              </a:rPr>
              <a:t>El Reto de la Concurrencia</a:t>
            </a:r>
          </a:p>
        </p:txBody>
      </p:sp>
      <p:sp>
        <p:nvSpPr>
          <p:cNvPr id="3" name="Subtitle 4">
            <a:extLst>
              <a:ext uri="{FF2B5EF4-FFF2-40B4-BE49-F238E27FC236}">
                <a16:creationId xmlns:a16="http://schemas.microsoft.com/office/drawing/2014/main" id="{9379FFB7-E2E3-9282-A491-6AE7191EB282}"/>
              </a:ext>
            </a:extLst>
          </p:cNvPr>
          <p:cNvSpPr txBox="1">
            <a:spLocks/>
          </p:cNvSpPr>
          <p:nvPr/>
        </p:nvSpPr>
        <p:spPr>
          <a:xfrm>
            <a:off x="838200" y="1452077"/>
            <a:ext cx="9926256" cy="477221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000" dirty="0">
                <a:solidFill>
                  <a:schemeClr val="tx2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Integridad en la Asignación: Resolución de Conflictos y Consistencia en </a:t>
            </a:r>
            <a:r>
              <a:rPr lang="es-ES" sz="2000" dirty="0" err="1">
                <a:solidFill>
                  <a:schemeClr val="tx2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MariaDB</a:t>
            </a:r>
            <a:endParaRPr lang="es-ES" sz="2000" dirty="0">
              <a:solidFill>
                <a:schemeClr val="tx2">
                  <a:lumMod val="10000"/>
                  <a:lumOff val="90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DF08A1-4202-CB60-0013-626D711376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52" b="2"/>
          <a:stretch>
            <a:fillRect/>
          </a:stretch>
        </p:blipFill>
        <p:spPr>
          <a:xfrm>
            <a:off x="1652785" y="2152891"/>
            <a:ext cx="8886430" cy="4454717"/>
          </a:xfrm>
          <a:prstGeom prst="roundRect">
            <a:avLst>
              <a:gd name="adj" fmla="val 4949"/>
            </a:avLst>
          </a:prstGeom>
          <a:solidFill>
            <a:srgbClr val="E2F4F6">
              <a:alpha val="49804"/>
            </a:srgbClr>
          </a:solidFill>
        </p:spPr>
      </p:pic>
    </p:spTree>
    <p:extLst>
      <p:ext uri="{BB962C8B-B14F-4D97-AF65-F5344CB8AC3E}">
        <p14:creationId xmlns:p14="http://schemas.microsoft.com/office/powerpoint/2010/main" val="42481690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01A6A-CA21-2401-3C8A-7850F0FE8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BCF19649-4E4B-A501-F204-17DAD8252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97137C8-B2A3-54CA-B066-61A08C1E56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50" t="50002" r="27478" b="37021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1">
            <a:extLst>
              <a:ext uri="{FF2B5EF4-FFF2-40B4-BE49-F238E27FC236}">
                <a16:creationId xmlns:a16="http://schemas.microsoft.com/office/drawing/2014/main" id="{1F84277C-31CC-9512-8C16-724344CE4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 sz="4000" u="sng" dirty="0">
                <a:solidFill>
                  <a:schemeClr val="tx2">
                    <a:lumMod val="10000"/>
                    <a:lumOff val="90000"/>
                  </a:schemeClr>
                </a:solidFill>
                <a:latin typeface="Cooper Black" panose="0208090404030B020404" pitchFamily="18" charset="0"/>
              </a:rPr>
              <a:t>Transacciones atómicas</a:t>
            </a:r>
          </a:p>
        </p:txBody>
      </p:sp>
      <p:sp>
        <p:nvSpPr>
          <p:cNvPr id="3" name="Subtitle 4">
            <a:extLst>
              <a:ext uri="{FF2B5EF4-FFF2-40B4-BE49-F238E27FC236}">
                <a16:creationId xmlns:a16="http://schemas.microsoft.com/office/drawing/2014/main" id="{3A7C5A9B-8142-88C0-C828-15C733FD5FE1}"/>
              </a:ext>
            </a:extLst>
          </p:cNvPr>
          <p:cNvSpPr txBox="1">
            <a:spLocks/>
          </p:cNvSpPr>
          <p:nvPr/>
        </p:nvSpPr>
        <p:spPr>
          <a:xfrm>
            <a:off x="838200" y="1452077"/>
            <a:ext cx="10331370" cy="477221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000" dirty="0">
                <a:solidFill>
                  <a:schemeClr val="tx2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Garantía de integridad mediante bloqueos de registro y cumplimiento ACID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236DCC-700F-E77B-5387-1BD8305418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3" t="495" r="1596" b="1070"/>
          <a:stretch>
            <a:fillRect/>
          </a:stretch>
        </p:blipFill>
        <p:spPr>
          <a:xfrm>
            <a:off x="1585732" y="2210765"/>
            <a:ext cx="8958806" cy="3865944"/>
          </a:xfrm>
          <a:prstGeom prst="roundRect">
            <a:avLst>
              <a:gd name="adj" fmla="val 5057"/>
            </a:avLst>
          </a:prstGeom>
        </p:spPr>
      </p:pic>
    </p:spTree>
    <p:extLst>
      <p:ext uri="{BB962C8B-B14F-4D97-AF65-F5344CB8AC3E}">
        <p14:creationId xmlns:p14="http://schemas.microsoft.com/office/powerpoint/2010/main" val="38489796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B46A1-E407-E3EA-3CC2-999EFC4BC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8E69ADF8-1C36-C158-001E-CD506C32B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BCFF184-BD1E-BAF3-487A-901BE108BE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26" t="39396" r="39502" b="47627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1">
            <a:extLst>
              <a:ext uri="{FF2B5EF4-FFF2-40B4-BE49-F238E27FC236}">
                <a16:creationId xmlns:a16="http://schemas.microsoft.com/office/drawing/2014/main" id="{41C69EE0-9791-FA7D-3CDA-4CF797EC2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 sz="3600" u="sng" dirty="0">
                <a:solidFill>
                  <a:schemeClr val="tx2">
                    <a:lumMod val="10000"/>
                    <a:lumOff val="90000"/>
                  </a:schemeClr>
                </a:solidFill>
                <a:latin typeface="Cooper Black" panose="0208090404030B020404" pitchFamily="18" charset="0"/>
              </a:rPr>
              <a:t>Optimización y Rendimiento de Consultas</a:t>
            </a:r>
          </a:p>
        </p:txBody>
      </p:sp>
      <p:sp>
        <p:nvSpPr>
          <p:cNvPr id="3" name="Subtitle 4">
            <a:extLst>
              <a:ext uri="{FF2B5EF4-FFF2-40B4-BE49-F238E27FC236}">
                <a16:creationId xmlns:a16="http://schemas.microsoft.com/office/drawing/2014/main" id="{DB358A79-FC86-DC10-236F-6A76786A96EF}"/>
              </a:ext>
            </a:extLst>
          </p:cNvPr>
          <p:cNvSpPr txBox="1">
            <a:spLocks/>
          </p:cNvSpPr>
          <p:nvPr/>
        </p:nvSpPr>
        <p:spPr>
          <a:xfrm>
            <a:off x="838200" y="1452077"/>
            <a:ext cx="9752635" cy="477221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000" dirty="0">
                <a:solidFill>
                  <a:schemeClr val="tx2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Estructuras de indexación estratégica para la reducción de latencia y eficiencia en reportes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07BE50-8AAB-0909-0700-7F376F070A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" t="1209" r="184" b="1051"/>
          <a:stretch>
            <a:fillRect/>
          </a:stretch>
        </p:blipFill>
        <p:spPr>
          <a:xfrm>
            <a:off x="1500851" y="2609818"/>
            <a:ext cx="9190298" cy="3090442"/>
          </a:xfrm>
          <a:prstGeom prst="roundRect">
            <a:avLst>
              <a:gd name="adj" fmla="val 5057"/>
            </a:avLst>
          </a:prstGeom>
        </p:spPr>
      </p:pic>
    </p:spTree>
    <p:extLst>
      <p:ext uri="{BB962C8B-B14F-4D97-AF65-F5344CB8AC3E}">
        <p14:creationId xmlns:p14="http://schemas.microsoft.com/office/powerpoint/2010/main" val="28739597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DBB3F-83AE-B4AC-9B82-1893FCDB6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D2B8A2FE-E2A6-8B39-4EEB-513B55F39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07FC526-61AE-5539-EB90-E5F8DF13FD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15" t="23465" r="52813" b="63558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1">
            <a:extLst>
              <a:ext uri="{FF2B5EF4-FFF2-40B4-BE49-F238E27FC236}">
                <a16:creationId xmlns:a16="http://schemas.microsoft.com/office/drawing/2014/main" id="{3D5414CA-C2B5-7E98-EFB5-7E143FECF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 sz="4000" u="sng" dirty="0">
                <a:solidFill>
                  <a:schemeClr val="tx2">
                    <a:lumMod val="10000"/>
                    <a:lumOff val="90000"/>
                  </a:schemeClr>
                </a:solidFill>
                <a:latin typeface="Cooper Black" panose="0208090404030B020404" pitchFamily="18" charset="0"/>
              </a:rPr>
              <a:t>Seguridad y Control de Acceso</a:t>
            </a:r>
          </a:p>
        </p:txBody>
      </p:sp>
      <p:sp>
        <p:nvSpPr>
          <p:cNvPr id="3" name="Subtitle 4">
            <a:extLst>
              <a:ext uri="{FF2B5EF4-FFF2-40B4-BE49-F238E27FC236}">
                <a16:creationId xmlns:a16="http://schemas.microsoft.com/office/drawing/2014/main" id="{900070A7-2BEA-6841-A803-DE25B7EB52FF}"/>
              </a:ext>
            </a:extLst>
          </p:cNvPr>
          <p:cNvSpPr txBox="1">
            <a:spLocks/>
          </p:cNvSpPr>
          <p:nvPr/>
        </p:nvSpPr>
        <p:spPr>
          <a:xfrm>
            <a:off x="838200" y="1452077"/>
            <a:ext cx="8279757" cy="477221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dirty="0">
                <a:solidFill>
                  <a:schemeClr val="tx2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Implementación del principio de mínimo privilegio y control de acceso basado en roles (RBAC)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DA95F9-574B-A4B1-5AD4-9418A18F31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07" t="-3243" r="-1555" b="-1426"/>
          <a:stretch>
            <a:fillRect/>
          </a:stretch>
        </p:blipFill>
        <p:spPr>
          <a:xfrm>
            <a:off x="1290578" y="2222339"/>
            <a:ext cx="9610844" cy="4247908"/>
          </a:xfrm>
          <a:prstGeom prst="roundRect">
            <a:avLst>
              <a:gd name="adj" fmla="val 3594"/>
            </a:avLst>
          </a:prstGeom>
          <a:solidFill>
            <a:srgbClr val="E2F4F6">
              <a:alpha val="50000"/>
            </a:srgbClr>
          </a:solidFill>
        </p:spPr>
      </p:pic>
    </p:spTree>
    <p:extLst>
      <p:ext uri="{BB962C8B-B14F-4D97-AF65-F5344CB8AC3E}">
        <p14:creationId xmlns:p14="http://schemas.microsoft.com/office/powerpoint/2010/main" val="29691435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4FE00-672C-730C-6A41-AAB94E170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446558EA-2775-75BD-91EB-505937C1E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97A3845-58B7-8CAD-A633-ADF4146955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98" t="25062" r="62530" b="61961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1">
            <a:extLst>
              <a:ext uri="{FF2B5EF4-FFF2-40B4-BE49-F238E27FC236}">
                <a16:creationId xmlns:a16="http://schemas.microsoft.com/office/drawing/2014/main" id="{5733FDC0-0FA1-D30C-0F08-465F663FF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 sz="4000" u="sng">
                <a:solidFill>
                  <a:schemeClr val="tx2">
                    <a:lumMod val="10000"/>
                    <a:lumOff val="90000"/>
                  </a:schemeClr>
                </a:solidFill>
                <a:latin typeface="Cooper Black" panose="0208090404030B020404" pitchFamily="18" charset="0"/>
              </a:rPr>
              <a:t>Plan de Continuidad y Resiliencia</a:t>
            </a:r>
            <a:endParaRPr lang="es-ES" sz="4000" u="sng" dirty="0">
              <a:solidFill>
                <a:schemeClr val="tx2">
                  <a:lumMod val="10000"/>
                  <a:lumOff val="9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3" name="Subtitle 4">
            <a:extLst>
              <a:ext uri="{FF2B5EF4-FFF2-40B4-BE49-F238E27FC236}">
                <a16:creationId xmlns:a16="http://schemas.microsoft.com/office/drawing/2014/main" id="{FA4CA25A-8CE8-985C-8275-A3DEDB729C80}"/>
              </a:ext>
            </a:extLst>
          </p:cNvPr>
          <p:cNvSpPr txBox="1">
            <a:spLocks/>
          </p:cNvSpPr>
          <p:nvPr/>
        </p:nvSpPr>
        <p:spPr>
          <a:xfrm>
            <a:off x="838200" y="1452077"/>
            <a:ext cx="9544291" cy="477221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000">
                <a:solidFill>
                  <a:schemeClr val="tx2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Estrategia de recuperación ante desastres (DRP) basada en copias consistentes y recuperación Point-in-Time</a:t>
            </a:r>
            <a:endParaRPr lang="es-ES" sz="2000" dirty="0">
              <a:solidFill>
                <a:schemeClr val="tx2">
                  <a:lumMod val="10000"/>
                  <a:lumOff val="90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8570BA-BB89-3068-9DCD-A51128D90B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9" t="-1" r="99" b="-271"/>
          <a:stretch>
            <a:fillRect/>
          </a:stretch>
        </p:blipFill>
        <p:spPr>
          <a:xfrm>
            <a:off x="497711" y="2777639"/>
            <a:ext cx="11181145" cy="2720335"/>
          </a:xfrm>
          <a:prstGeom prst="roundRect">
            <a:avLst>
              <a:gd name="adj" fmla="val 5057"/>
            </a:avLst>
          </a:prstGeom>
        </p:spPr>
      </p:pic>
    </p:spTree>
    <p:extLst>
      <p:ext uri="{BB962C8B-B14F-4D97-AF65-F5344CB8AC3E}">
        <p14:creationId xmlns:p14="http://schemas.microsoft.com/office/powerpoint/2010/main" val="15557277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FD3C6-9037-F6A7-DB7F-36A0730C6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306BED2F-4F89-7A2C-2BAF-8D5676833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CE730C1-1588-695F-0E22-270CBAF23A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2" t="28124" r="75486" b="58899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1">
            <a:extLst>
              <a:ext uri="{FF2B5EF4-FFF2-40B4-BE49-F238E27FC236}">
                <a16:creationId xmlns:a16="http://schemas.microsoft.com/office/drawing/2014/main" id="{7766AACE-FA7D-2312-BE67-DF3DD6ED6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 sz="4000" u="sng" dirty="0">
                <a:solidFill>
                  <a:schemeClr val="tx2">
                    <a:lumMod val="10000"/>
                    <a:lumOff val="90000"/>
                  </a:schemeClr>
                </a:solidFill>
                <a:latin typeface="Cooper Black" panose="0208090404030B020404" pitchFamily="18" charset="0"/>
              </a:rPr>
              <a:t>Inteligencia de Negocio y </a:t>
            </a:r>
            <a:r>
              <a:rPr lang="es-ES" sz="4000" u="sng" dirty="0" err="1">
                <a:solidFill>
                  <a:schemeClr val="tx2">
                    <a:lumMod val="10000"/>
                    <a:lumOff val="90000"/>
                  </a:schemeClr>
                </a:solidFill>
                <a:latin typeface="Cooper Black" panose="0208090404030B020404" pitchFamily="18" charset="0"/>
              </a:rPr>
              <a:t>KPIs</a:t>
            </a:r>
            <a:endParaRPr lang="es-ES" sz="4000" u="sng" dirty="0">
              <a:solidFill>
                <a:schemeClr val="tx2">
                  <a:lumMod val="10000"/>
                  <a:lumOff val="9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3" name="Subtitle 4">
            <a:extLst>
              <a:ext uri="{FF2B5EF4-FFF2-40B4-BE49-F238E27FC236}">
                <a16:creationId xmlns:a16="http://schemas.microsoft.com/office/drawing/2014/main" id="{BEB1F350-7547-E66D-E5D5-BBE9BFD4E782}"/>
              </a:ext>
            </a:extLst>
          </p:cNvPr>
          <p:cNvSpPr txBox="1">
            <a:spLocks/>
          </p:cNvSpPr>
          <p:nvPr/>
        </p:nvSpPr>
        <p:spPr>
          <a:xfrm>
            <a:off x="838200" y="1452077"/>
            <a:ext cx="9347522" cy="477221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000" dirty="0">
                <a:solidFill>
                  <a:schemeClr val="tx2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Visualización de métricas críticas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B09B8F-6D5E-EA3A-5365-794FB4A718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" b="1"/>
          <a:stretch>
            <a:fillRect/>
          </a:stretch>
        </p:blipFill>
        <p:spPr>
          <a:xfrm>
            <a:off x="1290578" y="1979675"/>
            <a:ext cx="9610844" cy="4589337"/>
          </a:xfrm>
          <a:prstGeom prst="roundRect">
            <a:avLst>
              <a:gd name="adj" fmla="val 3594"/>
            </a:avLst>
          </a:prstGeom>
          <a:solidFill>
            <a:srgbClr val="E2F4F6">
              <a:alpha val="50000"/>
            </a:srgbClr>
          </a:solidFill>
        </p:spPr>
      </p:pic>
    </p:spTree>
    <p:extLst>
      <p:ext uri="{BB962C8B-B14F-4D97-AF65-F5344CB8AC3E}">
        <p14:creationId xmlns:p14="http://schemas.microsoft.com/office/powerpoint/2010/main" val="8902118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06FFA-C610-CB97-5802-DCCBF13DE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921F0C89-0DFB-E080-0E38-3654F3CE6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80015F1-E9D2-7149-4209-0E69E70077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123" r="82925" b="66274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1">
            <a:extLst>
              <a:ext uri="{FF2B5EF4-FFF2-40B4-BE49-F238E27FC236}">
                <a16:creationId xmlns:a16="http://schemas.microsoft.com/office/drawing/2014/main" id="{B44A0568-A719-DA28-70BD-19E899F12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 sz="4000" u="sng" dirty="0">
                <a:solidFill>
                  <a:schemeClr val="tx2">
                    <a:lumMod val="10000"/>
                    <a:lumOff val="90000"/>
                  </a:schemeClr>
                </a:solidFill>
                <a:latin typeface="Cooper Black" panose="0208090404030B020404" pitchFamily="18" charset="0"/>
              </a:rPr>
              <a:t>Monitorización del Sistema (DBA)</a:t>
            </a:r>
          </a:p>
        </p:txBody>
      </p:sp>
      <p:sp>
        <p:nvSpPr>
          <p:cNvPr id="3" name="Subtitle 4">
            <a:extLst>
              <a:ext uri="{FF2B5EF4-FFF2-40B4-BE49-F238E27FC236}">
                <a16:creationId xmlns:a16="http://schemas.microsoft.com/office/drawing/2014/main" id="{9EC6E066-D69F-CB74-8359-01DE51B9A38A}"/>
              </a:ext>
            </a:extLst>
          </p:cNvPr>
          <p:cNvSpPr txBox="1">
            <a:spLocks/>
          </p:cNvSpPr>
          <p:nvPr/>
        </p:nvSpPr>
        <p:spPr>
          <a:xfrm>
            <a:off x="838200" y="1452077"/>
            <a:ext cx="9451694" cy="477221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900" dirty="0">
                <a:solidFill>
                  <a:schemeClr val="tx2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Control proactivo del rendimiento, salud y concurrencia del servidor </a:t>
            </a:r>
            <a:r>
              <a:rPr lang="es-ES" sz="1900" dirty="0" err="1">
                <a:solidFill>
                  <a:schemeClr val="tx2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MariaDB</a:t>
            </a:r>
            <a:r>
              <a:rPr lang="es-ES" sz="1900" dirty="0">
                <a:solidFill>
                  <a:schemeClr val="tx2">
                    <a:lumMod val="10000"/>
                    <a:lumOff val="90000"/>
                  </a:schemeClr>
                </a:solidFill>
                <a:latin typeface="Consolas" panose="020B0609020204030204" pitchFamily="49" charset="0"/>
              </a:rPr>
              <a:t> en tiempo real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E1E438-BBB5-4B17-B277-EE5AB102B8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9" t="1898" r="-212" b="1016"/>
          <a:stretch>
            <a:fillRect/>
          </a:stretch>
        </p:blipFill>
        <p:spPr>
          <a:xfrm>
            <a:off x="670560" y="2743200"/>
            <a:ext cx="10866119" cy="2910840"/>
          </a:xfrm>
          <a:prstGeom prst="roundRect">
            <a:avLst>
              <a:gd name="adj" fmla="val 5057"/>
            </a:avLst>
          </a:prstGeom>
        </p:spPr>
      </p:pic>
    </p:spTree>
    <p:extLst>
      <p:ext uri="{BB962C8B-B14F-4D97-AF65-F5344CB8AC3E}">
        <p14:creationId xmlns:p14="http://schemas.microsoft.com/office/powerpoint/2010/main" val="30491764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2392E-B195-916F-6B11-B0ACE142F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45AF1085-6F87-3975-53FC-C6C5A59DD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1DF5D7D-2EFE-C281-6262-19633FDAB4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49" b="34811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3">
            <a:extLst>
              <a:ext uri="{FF2B5EF4-FFF2-40B4-BE49-F238E27FC236}">
                <a16:creationId xmlns:a16="http://schemas.microsoft.com/office/drawing/2014/main" id="{76960A88-8766-08B3-AB30-4C8A30D5FF6B}"/>
              </a:ext>
            </a:extLst>
          </p:cNvPr>
          <p:cNvSpPr txBox="1">
            <a:spLocks/>
          </p:cNvSpPr>
          <p:nvPr/>
        </p:nvSpPr>
        <p:spPr>
          <a:xfrm>
            <a:off x="1524000" y="360509"/>
            <a:ext cx="9144000" cy="1384607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solidFill>
                  <a:schemeClr val="bg1"/>
                </a:solidFill>
                <a:latin typeface="Cooper Black" panose="0208090404030B020404" pitchFamily="18" charset="0"/>
              </a:rPr>
              <a:t>RIDE ‑ HAILING</a:t>
            </a:r>
          </a:p>
        </p:txBody>
      </p:sp>
      <p:sp>
        <p:nvSpPr>
          <p:cNvPr id="10" name="Subtitle 4">
            <a:extLst>
              <a:ext uri="{FF2B5EF4-FFF2-40B4-BE49-F238E27FC236}">
                <a16:creationId xmlns:a16="http://schemas.microsoft.com/office/drawing/2014/main" id="{870B82D4-A002-F789-5FD3-28FA23442DB0}"/>
              </a:ext>
            </a:extLst>
          </p:cNvPr>
          <p:cNvSpPr txBox="1">
            <a:spLocks/>
          </p:cNvSpPr>
          <p:nvPr/>
        </p:nvSpPr>
        <p:spPr>
          <a:xfrm>
            <a:off x="1524000" y="1745118"/>
            <a:ext cx="9144000" cy="47722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b="1" dirty="0">
                <a:solidFill>
                  <a:srgbClr val="FFFFFF"/>
                </a:solidFill>
                <a:latin typeface="Consolas" panose="020B0609020204030204" pitchFamily="49" charset="0"/>
              </a:rPr>
              <a:t>Defensa de Proyecto - Bases de Datos Avanzadas</a:t>
            </a:r>
          </a:p>
        </p:txBody>
      </p:sp>
      <p:sp>
        <p:nvSpPr>
          <p:cNvPr id="11" name="Subtitle 4">
            <a:extLst>
              <a:ext uri="{FF2B5EF4-FFF2-40B4-BE49-F238E27FC236}">
                <a16:creationId xmlns:a16="http://schemas.microsoft.com/office/drawing/2014/main" id="{184235E4-A464-2EB5-C8DC-A1FEAF716DA7}"/>
              </a:ext>
            </a:extLst>
          </p:cNvPr>
          <p:cNvSpPr txBox="1">
            <a:spLocks/>
          </p:cNvSpPr>
          <p:nvPr/>
        </p:nvSpPr>
        <p:spPr>
          <a:xfrm>
            <a:off x="-104182" y="5660019"/>
            <a:ext cx="2874379" cy="1128533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endParaRPr lang="es-ES" sz="500" b="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s-ES" sz="1600" b="1" dirty="0">
                <a:solidFill>
                  <a:srgbClr val="FFFFFF"/>
                </a:solidFill>
                <a:latin typeface="Consolas" panose="020B0609020204030204" pitchFamily="49" charset="0"/>
              </a:rPr>
              <a:t>NIA ANDRADE</a:t>
            </a:r>
          </a:p>
          <a:p>
            <a:pPr>
              <a:spcBef>
                <a:spcPts val="600"/>
              </a:spcBef>
            </a:pPr>
            <a:r>
              <a:rPr lang="es-ES" sz="1600" b="1" dirty="0">
                <a:solidFill>
                  <a:srgbClr val="FFFFFF"/>
                </a:solidFill>
                <a:latin typeface="Consolas" panose="020B0609020204030204" pitchFamily="49" charset="0"/>
              </a:rPr>
              <a:t>VITTORIO PERILLO </a:t>
            </a:r>
          </a:p>
          <a:p>
            <a:pPr>
              <a:spcBef>
                <a:spcPts val="600"/>
              </a:spcBef>
            </a:pPr>
            <a:r>
              <a:rPr lang="es-ES" sz="1600" b="1" dirty="0">
                <a:solidFill>
                  <a:srgbClr val="FFFFFF"/>
                </a:solidFill>
                <a:latin typeface="Consolas" panose="020B0609020204030204" pitchFamily="49" charset="0"/>
              </a:rPr>
              <a:t>DARÍO RODRÍGUEZ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CC7BCA8-66B4-4273-C107-017CDC7B34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199949" y="1883546"/>
            <a:ext cx="7792101" cy="4253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2980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A3A906FF883034586DF81039961C759" ma:contentTypeVersion="9" ma:contentTypeDescription="Crear nuevo documento." ma:contentTypeScope="" ma:versionID="657921788417b145bdcedca1bd3bf4d3">
  <xsd:schema xmlns:xsd="http://www.w3.org/2001/XMLSchema" xmlns:xs="http://www.w3.org/2001/XMLSchema" xmlns:p="http://schemas.microsoft.com/office/2006/metadata/properties" xmlns:ns3="1ba9aa90-fbab-4dd4-8d90-2b16041ce76b" xmlns:ns4="2cbda996-3484-4342-b8a9-f5ba75c50aa5" targetNamespace="http://schemas.microsoft.com/office/2006/metadata/properties" ma:root="true" ma:fieldsID="519594f536355ec0ff17f1bff0fb5f7f" ns3:_="" ns4:_="">
    <xsd:import namespace="1ba9aa90-fbab-4dd4-8d90-2b16041ce76b"/>
    <xsd:import namespace="2cbda996-3484-4342-b8a9-f5ba75c50aa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a9aa90-fbab-4dd4-8d90-2b16041ce7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bda996-3484-4342-b8a9-f5ba75c50aa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ba9aa90-fbab-4dd4-8d90-2b16041ce76b" xsi:nil="true"/>
  </documentManagement>
</p:properties>
</file>

<file path=customXml/itemProps1.xml><?xml version="1.0" encoding="utf-8"?>
<ds:datastoreItem xmlns:ds="http://schemas.openxmlformats.org/officeDocument/2006/customXml" ds:itemID="{A9773131-9F0E-4653-A70C-F228C6B3702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ba9aa90-fbab-4dd4-8d90-2b16041ce76b"/>
    <ds:schemaRef ds:uri="2cbda996-3484-4342-b8a9-f5ba75c50aa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B17F955-7F86-471E-984F-E5F34E37FEE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2EF0EDF-6167-4E44-8ECC-32190AA463A7}">
  <ds:schemaRefs>
    <ds:schemaRef ds:uri="http://schemas.microsoft.com/office/2006/documentManagement/types"/>
    <ds:schemaRef ds:uri="1ba9aa90-fbab-4dd4-8d90-2b16041ce76b"/>
    <ds:schemaRef ds:uri="http://www.w3.org/XML/1998/namespace"/>
    <ds:schemaRef ds:uri="http://schemas.microsoft.com/office/2006/metadata/properties"/>
    <ds:schemaRef ds:uri="http://purl.org/dc/elements/1.1/"/>
    <ds:schemaRef ds:uri="http://purl.org/dc/terms/"/>
    <ds:schemaRef ds:uri="http://schemas.openxmlformats.org/package/2006/metadata/core-properties"/>
    <ds:schemaRef ds:uri="2cbda996-3484-4342-b8a9-f5ba75c50aa5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1691</TotalTime>
  <Words>188</Words>
  <Application>Microsoft Office PowerPoint</Application>
  <PresentationFormat>Widescreen</PresentationFormat>
  <Paragraphs>41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Consolas</vt:lpstr>
      <vt:lpstr>Cooper Black</vt:lpstr>
      <vt:lpstr>Office Theme</vt:lpstr>
      <vt:lpstr>RIDE ‑ HAILING</vt:lpstr>
      <vt:lpstr>Modelado de Datos y Normalización</vt:lpstr>
      <vt:lpstr>Entorno Contenerizado</vt:lpstr>
      <vt:lpstr>El Reto de la Concurrencia</vt:lpstr>
      <vt:lpstr>Transacciones atómicas</vt:lpstr>
      <vt:lpstr>Optimización y Rendimiento de Consultas</vt:lpstr>
      <vt:lpstr>Seguridad y Control de Acceso</vt:lpstr>
      <vt:lpstr>Plan de Continuidad y Resiliencia</vt:lpstr>
      <vt:lpstr>Inteligencia de Negocio y KPIs</vt:lpstr>
      <vt:lpstr>Monitorización del Sistema (DBA)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Eugenia Rodríguez Andrade</dc:creator>
  <cp:lastModifiedBy>Nia Andrade</cp:lastModifiedBy>
  <cp:revision>2</cp:revision>
  <dcterms:created xsi:type="dcterms:W3CDTF">2026-04-25T17:29:43Z</dcterms:created>
  <dcterms:modified xsi:type="dcterms:W3CDTF">2026-04-26T21:41:29Z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0x0101003A3A906FF883034586DF81039961C759</vt:lpwstr>
  </property>
</Properties>
</file>